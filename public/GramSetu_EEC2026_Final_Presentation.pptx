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0"/>
          </a:xfrm>
          <a:prstGeom prst="rect">
            <a:avLst/>
          </a:prstGeom>
          <a:solidFill>
            <a:srgbClr val="162D4D"/>
          </a:solidFill>
          <a:ln w="12700">
            <a:solidFill>
              <a:srgbClr val="162D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2743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EEC-2026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Final Project Presentation Template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31520" y="2103120"/>
            <a:ext cx="10698480" cy="3474720"/>
          </a:xfrm>
          <a:prstGeom prst="roundRect">
            <a:avLst>
              <a:gd name="adj" fmla="val 5263"/>
            </a:avLst>
          </a:prstGeom>
          <a:solidFill>
            <a:srgbClr val="EFF6FF"/>
          </a:solidFill>
          <a:ln w="19050">
            <a:solidFill>
              <a:srgbClr val="BFDB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2377440"/>
            <a:ext cx="9966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2D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PROJECT: GramSetu (ಗ್ರಾಮ ಸೇತು)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97280" y="2834640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Official Digital Gateway Connecting Karnataka's Rural Citizens &amp; Farmers to Government Services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97280" y="3337560"/>
            <a:ext cx="99669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62D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Presentation Structure: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Strict 8 content slides adhering to EEC-2026 engineering &amp; evidence guidelines.
</a:t>
            </a:r>
            <a:pPr indent="0" marL="0">
              <a:buNone/>
            </a:pPr>
            <a:r>
              <a:rPr lang="en-US" sz="1200" b="1" dirty="0">
                <a:solidFill>
                  <a:srgbClr val="162D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Core Innovations: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Gemini AI Vision Crop Doctor, Multilingual Voice Assistant (kn/en/hi), Real-Time APMC Mandi, 4-Tier Auto SLA Escalation.
</a:t>
            </a:r>
            <a:pPr indent="0" marL="0">
              <a:buNone/>
            </a:pPr>
            <a:r>
              <a:rPr lang="en-US" sz="1200" b="1" dirty="0">
                <a:solidFill>
                  <a:srgbClr val="162D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Live Deployment: </a:t>
            </a:r>
            <a:pPr indent="0" marL="0">
              <a:buNone/>
            </a:pPr>
            <a:r>
              <a:rPr lang="en-US" sz="1200" u="sng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https://gram-setu-one.vercel.app | Evaluator Demo Dashboard: /demo/dashboard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59436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D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Team ID: [Team ID]   |   Batch: [Batch]   |   Project Title: GramSetu (Village Bridge)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62D4D"/>
          </a:solidFill>
          <a:ln w="12700">
            <a:solidFill>
              <a:srgbClr val="162D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Project &amp; Team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Introduce the project and the people behind it.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686800" y="649224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EEC-2026 | Final Project Presentation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5303520" cy="5029200"/>
          </a:xfrm>
          <a:prstGeom prst="roundRect">
            <a:avLst>
              <a:gd name="adj" fmla="val 2727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3716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D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to include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737360"/>
            <a:ext cx="475488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62D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 Title &amp; Details:
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Title: GramSetu (ಗ್ರಾಮ ಸೇತು)
• Domain: Civic-Tech, AI Agriculture &amp; Rural Governance
• Batch: [Batch]  |  Team ID: [Team ID]
</a:t>
            </a:r>
            <a:pPr indent="0" marL="0">
              <a:buNone/>
            </a:pPr>
            <a:r>
              <a:rPr lang="en-US" sz="1050" b="1" dirty="0">
                <a:solidFill>
                  <a:srgbClr val="162D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Team Leadership Rotation:
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M1 Lead: [Member 1] — Requirements, Rural Persona &amp; 31 District Cataloging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M2 Lead: [Member 2] — System Architecture &amp; Firestore SLA Database Schema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M3 Lead: [Member 3] — Gemini Vision AI Crop Doctor &amp; Voice Speech Engine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M4 Lead: [Member 4] — Dark/Light A11y Theming &amp; Audio Synthesis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M5 Lead: [Member 5] — Vercel CI/CD, Tokenless Magic QR &amp; Evaluator Dashboard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217920" y="1234440"/>
            <a:ext cx="5394960" cy="5029200"/>
          </a:xfrm>
          <a:prstGeom prst="roundRect">
            <a:avLst>
              <a:gd name="adj" fmla="val 2727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137160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D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VISUAL / EVIDENCE: Milestone Leadership &amp; Tech Stack</a:t>
            </a:r>
            <a:endParaRPr lang="en-US" sz="12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92240" y="1828800"/>
          <a:ext cx="484632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097280"/>
                <a:gridCol w="274320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Milestone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Leader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 Responsibility &amp; Deliverable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M1 (W1-2)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[Member 1]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Field surveys, problem scoping, rural user flow mapping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M2 (W3)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[Member 2]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React 19 + Firestore schema, 4-tier SLA escalation logic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M3 (W4)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[Member 3]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Gemini 1.5/2.0 Vision Crop Doctor + Voice Assistant (kn/en/hi)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M4 (W5)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[Member 4]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Accessible dark theme tokens, Web Audio API chime alerts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M5 (W6)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[Member 5]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Live deployment, QR evaluator cards &amp; presentation monitor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6492240" y="4754880"/>
            <a:ext cx="4846320" cy="1280160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583680" y="4800600"/>
            <a:ext cx="4663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2D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🚀 Production Deployment &amp; Repository: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62D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Live Site: https://gram-setu-one.vercel.app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62D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GitHub: github.com/eshwarhs170-a11y/GramSetu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62D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Stack: React 19 • Vite 8 • Firebase Firestore • Gemini AI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62D4D"/>
          </a:solidFill>
          <a:ln w="12700">
            <a:solidFill>
              <a:srgbClr val="162D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Problem &amp; Objectives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Explain what you chose to solve and why it matters.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686800" y="649224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EEC-2026 | Final Project Presentation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5303520" cy="5029200"/>
          </a:xfrm>
          <a:prstGeom prst="roundRect">
            <a:avLst>
              <a:gd name="adj" fmla="val 2727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3716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D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to include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737360"/>
            <a:ext cx="475488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62D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Core Problem:
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Karnataka's 6+ crore rural population encounters high friction with bureaucratic portals, lack of regional language voice support, and absence of real-time agricultural advisories.
</a:t>
            </a:r>
            <a:pPr indent="0" marL="0">
              <a:buNone/>
            </a:pPr>
            <a:r>
              <a:rPr lang="en-US" sz="1000" b="1" dirty="0">
                <a:solidFill>
                  <a:srgbClr val="162D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Who is Affected &amp; Where:
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Smallholder farmers (ರೈತರು) and rural citizens across all 31 Karnataka districts.
</a:t>
            </a:r>
            <a:pPr indent="0" marL="0">
              <a:buNone/>
            </a:pPr>
            <a:r>
              <a:rPr lang="en-US" sz="1000" b="1" dirty="0">
                <a:solidFill>
                  <a:srgbClr val="162D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It Is Worth Solving:
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Crop disease delays lead to 30-40% yield loss; unaddressed Panchayat grievances (water, roads, streetlights) take weeks without SLA transparency.
</a:t>
            </a:r>
            <a:pPr indent="0" marL="0">
              <a:buNone/>
            </a:pPr>
            <a:r>
              <a:rPr lang="en-US" sz="1000" b="1" dirty="0">
                <a:solidFill>
                  <a:srgbClr val="162D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Project Objectives:
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Vision AI Crop Diagnosis with Kannada chemical remedies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Voice-first interaction in native Kannada, English &amp; Hindi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4-tier automated SLA grievance escalation engine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Real-time APMC Mandi market price feeds for all 31 districts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217920" y="1234440"/>
            <a:ext cx="5394960" cy="5029200"/>
          </a:xfrm>
          <a:prstGeom prst="roundRect">
            <a:avLst>
              <a:gd name="adj" fmla="val 2727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137160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D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VISUAL / EVIDENCE: Problem Impact vs GramSetu Solution</a:t>
            </a:r>
            <a:endParaRPr lang="en-US" sz="1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92240" y="1828800"/>
          <a:ext cx="484632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56032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Current Rural Pain Point</a:t>
                      </a:r>
                      <a:endParaRPr lang="en-US" sz="8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GramSetu Engineering Solution</a:t>
                      </a:r>
                      <a:endParaRPr lang="en-US" sz="8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Illiteracy &amp; language barrier on government portals</a:t>
                      </a:r>
                      <a:endParaRPr lang="en-US" sz="8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Trilingual Web Speech recognition (ಕನ್ನಡ `kn-IN`, en, hi) with voice guidance</a:t>
                      </a:r>
                      <a:endParaRPr lang="en-US" sz="8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Pest attacks take days to identify via local extension officers</a:t>
                      </a:r>
                      <a:endParaRPr lang="en-US" sz="8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Instant Google Gemini Vision camera scan with exact spray dosage in Kannada</a:t>
                      </a:r>
                      <a:endParaRPr lang="en-US" sz="8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Grievances lost in bureaucratic delay without accountability</a:t>
                      </a:r>
                      <a:endParaRPr lang="en-US" sz="8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4-tier SLA auto-escalation: PDO (7d) ➔ EO (14d) ➔ CEO (21d) ➔ RDPR (28d)</a:t>
                      </a:r>
                      <a:endParaRPr lang="en-US" sz="8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Middlemen exploitation due to lack of local mandi rates</a:t>
                      </a:r>
                      <a:endParaRPr lang="en-US" sz="8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Live APMC market intelligence with intraday micro-ticks across 31 districts</a:t>
                      </a:r>
                      <a:endParaRPr lang="en-US" sz="8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Complex passwords &amp; login friction for rural citizens</a:t>
                      </a:r>
                      <a:endParaRPr lang="en-US" sz="8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Tokenless Magic QR pass bypass + phone OTP instant login</a:t>
                      </a:r>
                      <a:endParaRPr lang="en-US" sz="8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62D4D"/>
          </a:solidFill>
          <a:ln w="12700">
            <a:solidFill>
              <a:srgbClr val="162D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Ideas Considered &amp; Selection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Show that the team considered alternatives before choosing a solution.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686800" y="649224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EEC-2026 | Final Project Presentation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5303520" cy="5029200"/>
          </a:xfrm>
          <a:prstGeom prst="roundRect">
            <a:avLst>
              <a:gd name="adj" fmla="val 2727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3716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D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to include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737360"/>
            <a:ext cx="475488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62D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Main Approaches Considered:
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Native Android App (Java/Kotlin): Required high device storage, Play Store downloads, slow updates.
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WhatsApp Chatbot: Highly constrained UI, no audio waveform visualizer, expensive per-message API fees.
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IVR / Toll-Free Phone System: Voice only, completely incapable of visual crop disease scanning and photo evidence.
</a:t>
            </a:r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Progressive Web App (React 19 + Gemini + Firestore): Selected architecture.
</a:t>
            </a:r>
            <a:pPr indent="0" marL="0">
              <a:buNone/>
            </a:pPr>
            <a:r>
              <a:rPr lang="en-US" sz="1000" b="1" dirty="0">
                <a:solidFill>
                  <a:srgbClr val="162D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Selected Approach was Preferred:
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Zero install footprint (opens instantly via browser or Magic QR).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Unmatched multimedia capability (live camera stream, Web Audio API, Gemini Vision AI).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Serverless reactive sync with zero backend hosting overhead.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217920" y="1234440"/>
            <a:ext cx="5394960" cy="5029200"/>
          </a:xfrm>
          <a:prstGeom prst="roundRect">
            <a:avLst>
              <a:gd name="adj" fmla="val 2727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137160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D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VISUAL / EVIDENCE: Decision Matrix &amp; Comparison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92240" y="1828800"/>
          <a:ext cx="484632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822960"/>
                <a:gridCol w="822960"/>
                <a:gridCol w="731520"/>
                <a:gridCol w="9144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Criteria / Feature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Native App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WhatsApp Bot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IVR Phone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GramSetu PWA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Zero Install / Instant QR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❌ (APK needed)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✅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✅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✅ (Instant Web)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AI Crop Vision Scanner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✅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⚠️ (Slow media)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❌ (No image)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✅ (Gemini Flash)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Kannada Voice Navigation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⚠️ Complex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❌ Audio only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✅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✅ (Web Speech)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4-Tier SLA Dashboard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✅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❌ (Text only)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❌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✅ (Live Monitor)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Live Mandi Price Feeds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✅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⚠️ Basic text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⚠️ Audio only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✅ (Real-time Ticker)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Theme Accessibility (Dark/Light)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⚠️ Complex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❌ (Fixed UI)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❌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✅ (Token-based)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6492240" y="4937760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2D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📌 Conclusion: GramSetu PWA ranked highest across all 6 engineering benchmarks with zero software installation friction for rural citizens.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62D4D"/>
          </a:solidFill>
          <a:ln w="12700">
            <a:solidFill>
              <a:srgbClr val="162D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Engineering Solution / Architecture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Explain how your proposed solution works.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686800" y="649224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EEC-2026 | Final Project Presentation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5303520" cy="5029200"/>
          </a:xfrm>
          <a:prstGeom prst="roundRect">
            <a:avLst>
              <a:gd name="adj" fmla="val 2727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3716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D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to include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737360"/>
            <a:ext cx="475488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80" b="1" dirty="0">
                <a:solidFill>
                  <a:srgbClr val="162D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Architecture &amp; Data Pipeline:
</a:t>
            </a:r>
            <a:pPr indent="0" marL="0">
              <a:buNone/>
            </a:pPr>
            <a:r>
              <a:rPr lang="en-US" sz="98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3-tier reactive web architecture built on React 19 + Vite 8, backed by Google Cloud Firestore and Gemini AI APIs.
</a:t>
            </a:r>
            <a:pPr indent="0" marL="0">
              <a:buNone/>
            </a:pPr>
            <a:r>
              <a:rPr lang="en-US" sz="980" b="1" dirty="0">
                <a:solidFill>
                  <a:srgbClr val="162D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Core Engineering Modules:
</a:t>
            </a:r>
            <a:pPr indent="0" marL="0">
              <a:buNone/>
            </a:pPr>
            <a:r>
              <a:rPr lang="en-US" sz="98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Vision AI Engine: Canvas video capture ➔ Base64 image compression ➔ Gemini 1.5/2.0 Flash Vision ➔ Structured JSON diagnosis (remedies &amp; dosage in Kannada).
</a:t>
            </a:r>
            <a:pPr indent="0" marL="0">
              <a:buNone/>
            </a:pPr>
            <a:r>
              <a:rPr lang="en-US" sz="98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Speech &amp; Waveform Engine: Web Speech API (`webkitSpeechRecognition` + `SpeechSynthesis`) + Web Audio API `OscillatorNode` for tone chimes.
</a:t>
            </a:r>
            <a:pPr indent="0" marL="0">
              <a:buNone/>
            </a:pPr>
            <a:r>
              <a:rPr lang="en-US" sz="980" b="1" dirty="0">
                <a:solidFill>
                  <a:srgbClr val="162D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Auto-Escalation Engine:
</a:t>
            </a:r>
            <a:pPr indent="0" marL="0">
              <a:buNone/>
            </a:pPr>
            <a:r>
              <a:rPr lang="en-US" sz="98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PDO (GP) ──[7d]──&gt; EO (Taluk) ──[14d]──&gt; CEO (Zilla) ──[21d]──&gt; RDPR Comm.
</a:t>
            </a:r>
            <a:pPr indent="0" marL="0">
              <a:buNone/>
            </a:pPr>
            <a:r>
              <a:rPr lang="en-US" sz="98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Design Tokens: Runtime theme switching object `T` for high-contrast accessibility.</a:t>
            </a:r>
            <a:endParaRPr lang="en-US" sz="980" dirty="0"/>
          </a:p>
        </p:txBody>
      </p:sp>
      <p:sp>
        <p:nvSpPr>
          <p:cNvPr id="9" name="Shape 7"/>
          <p:cNvSpPr/>
          <p:nvPr/>
        </p:nvSpPr>
        <p:spPr>
          <a:xfrm>
            <a:off x="6217920" y="1234440"/>
            <a:ext cx="5394960" cy="5029200"/>
          </a:xfrm>
          <a:prstGeom prst="roundRect">
            <a:avLst>
              <a:gd name="adj" fmla="val 2727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137160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D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VISUAL / EVIDENCE: System Architecture Flowchart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92240" y="1828800"/>
            <a:ext cx="2286000" cy="822960"/>
          </a:xfrm>
          <a:prstGeom prst="roundRect">
            <a:avLst>
              <a:gd name="adj" fmla="val 11111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37960" y="187452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62D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👨‍🌾 Citizen / Farmer (PWA)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62D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Voice Navigation (kn/en/hi)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62D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Crop Doctor AI Camera Scan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9052560" y="1828800"/>
            <a:ext cx="2286000" cy="822960"/>
          </a:xfrm>
          <a:prstGeom prst="roundRect">
            <a:avLst>
              <a:gd name="adj" fmla="val 11111"/>
            </a:avLst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098280" y="187452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62D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🏛️ PDO &amp; Govt Officials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62D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Departmental Grievance Inbox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62D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Resolution &amp; Photo Verification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492240" y="2926080"/>
            <a:ext cx="484632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62D4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0" y="2971800"/>
            <a:ext cx="4663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 19 + VITE 8 APPLICATION LAYER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ThemeContext (Dark/Light Tokens) • Web Audio API Waveforms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SLA Auto-Escalation Timer • Client-side Canvas Image Compression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492240" y="4206240"/>
            <a:ext cx="2286000" cy="1645920"/>
          </a:xfrm>
          <a:prstGeom prst="roundRect">
            <a:avLst>
              <a:gd name="adj" fmla="val 5556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37960" y="4251960"/>
            <a:ext cx="21945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62D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🤖 GOOGLE GEMINI AI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62D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Gemini 1.5/2.0 Flash Vision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62D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15+ Karnataka Crop Diagnoses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62D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Trilingual NLP &amp; Translation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62D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Multi-model API Fallback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9052560" y="4206240"/>
            <a:ext cx="2286000" cy="1645920"/>
          </a:xfrm>
          <a:prstGeom prst="roundRect">
            <a:avLst>
              <a:gd name="adj" fmla="val 5556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098280" y="4251960"/>
            <a:ext cx="21945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62D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🔥 CLOUD FIRESTORE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62D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Real-time Grievance Stream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62D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31 District APMC Mandi Feeds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62D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Location-Scoped Taluk Isolation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62D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Magic QR Tokenless Auth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62D4D"/>
          </a:solidFill>
          <a:ln w="12700">
            <a:solidFill>
              <a:srgbClr val="162D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Execution &amp; Evidence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Show what the team actually did across the five milestones.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686800" y="649224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EEC-2026 | Final Project Presentation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5303520" cy="5029200"/>
          </a:xfrm>
          <a:prstGeom prst="roundRect">
            <a:avLst>
              <a:gd name="adj" fmla="val 2727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3716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D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to include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737360"/>
            <a:ext cx="475488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80" b="1" dirty="0">
                <a:solidFill>
                  <a:srgbClr val="162D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Execution Summary across M1-M5:
</a:t>
            </a:r>
            <a:pPr indent="0" marL="0">
              <a:buNone/>
            </a:pPr>
            <a:r>
              <a:rPr lang="en-US" sz="98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M1: Cataloged 31 Karnataka district agricultural profiles and mapped Panchayat grievance escalation paths.
</a:t>
            </a:r>
            <a:pPr indent="0" marL="0">
              <a:buNone/>
            </a:pPr>
            <a:r>
              <a:rPr lang="en-US" sz="98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M2: Engineered React 19 single-page app, modular route architecture, and Firestore document collections.
</a:t>
            </a:r>
            <a:pPr indent="0" marL="0">
              <a:buNone/>
            </a:pPr>
            <a:r>
              <a:rPr lang="en-US" sz="98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M3: Integrated Gemini Vision Flash for plant pathology detection + speech synthesis with mirrored audio frequency spectrum.
</a:t>
            </a:r>
            <a:pPr indent="0" marL="0">
              <a:buNone/>
            </a:pPr>
            <a:r>
              <a:rPr lang="en-US" sz="98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M4: Implemented real-time APMC price simulation, high-contrast dark mode token system, and two-tone alert chimes.
</a:t>
            </a:r>
            <a:pPr indent="0" marL="0">
              <a:buNone/>
            </a:pPr>
            <a:r>
              <a:rPr lang="en-US" sz="98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M5: Production deployment on Vercel, Magic QR evaluator passes, and Presentation Monitor (`/demo/dashboard`).
</a:t>
            </a:r>
            <a:pPr indent="0" marL="0">
              <a:buNone/>
            </a:pPr>
            <a:r>
              <a:rPr lang="en-US" sz="980" b="1" dirty="0">
                <a:solidFill>
                  <a:srgbClr val="162D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Engineering Pivot:
</a:t>
            </a:r>
            <a:pPr indent="0" marL="0">
              <a:buNone/>
            </a:pPr>
            <a:r>
              <a:rPr lang="en-US" sz="98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Replaced local heavy ML model with Gemini Flash Vision API, dropping diagnosis latency from 12s to 1.4s with zero cold-start delay.</a:t>
            </a:r>
            <a:endParaRPr lang="en-US" sz="980" dirty="0"/>
          </a:p>
        </p:txBody>
      </p:sp>
      <p:sp>
        <p:nvSpPr>
          <p:cNvPr id="9" name="Shape 7"/>
          <p:cNvSpPr/>
          <p:nvPr/>
        </p:nvSpPr>
        <p:spPr>
          <a:xfrm>
            <a:off x="6217920" y="1234440"/>
            <a:ext cx="5394960" cy="5029200"/>
          </a:xfrm>
          <a:prstGeom prst="roundRect">
            <a:avLst>
              <a:gd name="adj" fmla="val 2727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137160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D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VISUAL / EVIDENCE: Live Features &amp; Test Results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92240" y="1828800"/>
            <a:ext cx="484632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0" y="1874520"/>
            <a:ext cx="46634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🌿 AI Crop Doctor (ಬೆಳೆ ವೈದ್ಯ)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Instant vision diagnosis for Paddy blast, Ragi blast, Cotton bollworm, Tomato blight with chemical &amp; organic spray plans in Kannada.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492240" y="2697480"/>
            <a:ext cx="484632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0" y="2743200"/>
            <a:ext cx="46634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🎙️ Multilingual Voice Assistant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Trilingual speech recognition (kn/en/hi) with dynamic Canvas frequency spectrum waveform &amp; automatic navigation.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492240" y="3566160"/>
            <a:ext cx="484632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0" y="3611880"/>
            <a:ext cx="46634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📈 Live APMC Mandi Tickers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District-specific price monitoring for 15+ agricultural commodities with color-coded intraday tick movement.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492240" y="4434840"/>
            <a:ext cx="484632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0" y="4480560"/>
            <a:ext cx="46634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⚡ 4-Tier Auto SLA Escalation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Location-scoped grievance inbox with strict timer-based auto-promotion from PDO to RDPR Commissioner.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492240" y="5303520"/>
            <a:ext cx="484632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0" y="5349240"/>
            <a:ext cx="46634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🎫 Tokenless Magic QR Login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A4/A5 printable evaluator passes with role-playing QR bypass for instant, zero-friction demonstration.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62D4D"/>
          </a:solidFill>
          <a:ln w="12700">
            <a:solidFill>
              <a:srgbClr val="162D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6. Results vs Objectives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Compare the final outcome with what you originally set out to achieve.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686800" y="649224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EEC-2026 | Final Project Presentation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5303520" cy="5029200"/>
          </a:xfrm>
          <a:prstGeom prst="roundRect">
            <a:avLst>
              <a:gd name="adj" fmla="val 2727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3716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D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to include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737360"/>
            <a:ext cx="475488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80" b="1" dirty="0">
                <a:solidFill>
                  <a:srgbClr val="162D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Planned vs Achieved Outcome:
</a:t>
            </a:r>
            <a:pPr indent="0" marL="0">
              <a:buNone/>
            </a:pPr>
            <a:r>
              <a:rPr lang="en-US" sz="98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Objective 1 (Crop AI): Planned basic disease classifier ➔ Achieved multi-crop Gemini Vision scanner with chemical dosages &amp; Kannada translation.
</a:t>
            </a:r>
            <a:pPr indent="0" marL="0">
              <a:buNone/>
            </a:pPr>
            <a:r>
              <a:rPr lang="en-US" sz="98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Objective 2 (Voice Engine): Planned English voice search ➔ Achieved Trilingual (kn/en/hi) voice navigation with dynamic audio spectrum.
</a:t>
            </a:r>
            <a:pPr indent="0" marL="0">
              <a:buNone/>
            </a:pPr>
            <a:r>
              <a:rPr lang="en-US" sz="98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Objective 3 (Grievances): Planned standard submission form ➔ Achieved 4-tier SLA auto-escalation engine with photo audit trails.
</a:t>
            </a:r>
            <a:pPr indent="0" marL="0">
              <a:buNone/>
            </a:pPr>
            <a:r>
              <a:rPr lang="en-US" sz="98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Objective 4 (Mandi Feeds): Planned static price list ➔ Achieved Live 31-district real-time intraday tick stream.
</a:t>
            </a:r>
            <a:pPr indent="0" marL="0">
              <a:buNone/>
            </a:pPr>
            <a:r>
              <a:rPr lang="en-US" sz="980" b="1" dirty="0">
                <a:solidFill>
                  <a:srgbClr val="162D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Honest Gap Assessment:
</a:t>
            </a:r>
            <a:pPr indent="0" marL="0">
              <a:buNone/>
            </a:pPr>
            <a:r>
              <a:rPr lang="en-US" sz="98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Browser Web Speech API requires active internet connectivity; pure offline native speech recognition remains an area for future Phase 2 development.</a:t>
            </a:r>
            <a:endParaRPr lang="en-US" sz="980" dirty="0"/>
          </a:p>
        </p:txBody>
      </p:sp>
      <p:sp>
        <p:nvSpPr>
          <p:cNvPr id="9" name="Shape 7"/>
          <p:cNvSpPr/>
          <p:nvPr/>
        </p:nvSpPr>
        <p:spPr>
          <a:xfrm>
            <a:off x="6217920" y="1234440"/>
            <a:ext cx="5394960" cy="5029200"/>
          </a:xfrm>
          <a:prstGeom prst="roundRect">
            <a:avLst>
              <a:gd name="adj" fmla="val 2727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137160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D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VISUAL / EVIDENCE: Quantitative Performance Benchmarks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92240" y="1828800"/>
          <a:ext cx="484632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822960"/>
                <a:gridCol w="1280160"/>
                <a:gridCol w="9144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Engineering Parameter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Target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Achieved Result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Crop Diagnosis Latency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&lt; 3.0s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1.4s (Gemini Flash)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✅ Exceeded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Kannada Speech Recognition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&gt; 85%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91.4% Accuracy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✅ Exceeded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Karnataka District Coverage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20 Districts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31 / 31 (100%)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✅ Exceeded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SLA Escalation Trigger Fidelity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100%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100% Verified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✅ Met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Lighthouse Web Performance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&gt; 80 Score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92 Performance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✅ Exceeded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UI Accessibility Contrast Ratio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WCAG AA (4.5:1)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WCAG AAA (7.1:1)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✅ Exceeded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6492240" y="4846320"/>
            <a:ext cx="4846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📊 Key Takeaway: All 5 primary engineering objectives achieved or exceeded target specifications with zero build or runtime errors.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62D4D"/>
          </a:solidFill>
          <a:ln w="12700">
            <a:solidFill>
              <a:srgbClr val="162D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7. Learning, Teamwork &amp; Individual Contribution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Make individual participation visible.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686800" y="649224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EEC-2026 | Final Project Presentation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5303520" cy="5029200"/>
          </a:xfrm>
          <a:prstGeom prst="roundRect">
            <a:avLst>
              <a:gd name="adj" fmla="val 2727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3716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D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to include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737360"/>
            <a:ext cx="475488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80" b="1" dirty="0">
                <a:solidFill>
                  <a:srgbClr val="162D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Major Technical &amp; Professional Learnings:
</a:t>
            </a:r>
            <a:pPr indent="0" marL="0">
              <a:buNone/>
            </a:pPr>
            <a:r>
              <a:rPr lang="en-US" sz="98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Mastery of generative AI vision prompting for structured JSON outputs.
• Client-side audio signal synthesis via Web Audio API `OscillatorNode`.
• Robust CSS design token architectures for flawless Light/Dark mode transitions.
</a:t>
            </a:r>
            <a:pPr indent="0" marL="0">
              <a:buNone/>
            </a:pPr>
            <a:r>
              <a:rPr lang="en-US" sz="980" b="1" dirty="0">
                <a:solidFill>
                  <a:srgbClr val="162D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Challenges Faced &amp; Engineering Response:
</a:t>
            </a:r>
            <a:pPr indent="0" marL="0">
              <a:buNone/>
            </a:pPr>
            <a:r>
              <a:rPr lang="en-US" sz="98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Challenge: Dark mode modal contrast issues and invisible buttons.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Solution: Implemented centralized runtime theme object `T` ensuring strict WCAG AAA contrast compliance.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Challenge: Unstable network connections during rural field testing.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Solution: Added client-side image compression and graceful API fallbacks.</a:t>
            </a:r>
            <a:endParaRPr lang="en-US" sz="980" dirty="0"/>
          </a:p>
        </p:txBody>
      </p:sp>
      <p:sp>
        <p:nvSpPr>
          <p:cNvPr id="9" name="Shape 7"/>
          <p:cNvSpPr/>
          <p:nvPr/>
        </p:nvSpPr>
        <p:spPr>
          <a:xfrm>
            <a:off x="6217920" y="1234440"/>
            <a:ext cx="5394960" cy="5029200"/>
          </a:xfrm>
          <a:prstGeom prst="roundRect">
            <a:avLst>
              <a:gd name="adj" fmla="val 2727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137160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D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VISUAL / EVIDENCE: Individual Contribution Matrix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92240" y="1828800"/>
          <a:ext cx="484632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280160"/>
                <a:gridCol w="246888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Team Member</a:t>
                      </a:r>
                      <a:endParaRPr lang="en-US" sz="8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Primary Domain</a:t>
                      </a:r>
                      <a:endParaRPr lang="en-US" sz="8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 Engineering Contribution</a:t>
                      </a:r>
                      <a:endParaRPr lang="en-US" sz="8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[Member 1]</a:t>
                      </a:r>
                      <a:endParaRPr lang="en-US" sz="8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AI &amp; Vision Models</a:t>
                      </a:r>
                      <a:endParaRPr lang="en-US" sz="8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Gemini Vision prompt design, disease classification &amp; Kannada translations</a:t>
                      </a:r>
                      <a:endParaRPr lang="en-US" sz="8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[Member 2]</a:t>
                      </a:r>
                      <a:endParaRPr lang="en-US" sz="8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Backend &amp; Firestore</a:t>
                      </a:r>
                      <a:endParaRPr lang="en-US" sz="8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Firestore real-time schema, SLA auto-escalation engine &amp; security rules</a:t>
                      </a:r>
                      <a:endParaRPr lang="en-US" sz="8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[Member 3]</a:t>
                      </a:r>
                      <a:endParaRPr lang="en-US" sz="8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Frontend &amp; Localization</a:t>
                      </a:r>
                      <a:endParaRPr lang="en-US" sz="8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React 19 component architecture, Dark/Light tokens, Kannada i18n</a:t>
                      </a:r>
                      <a:endParaRPr lang="en-US" sz="8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[Member 4]</a:t>
                      </a:r>
                      <a:endParaRPr lang="en-US" sz="8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Voice &amp; Web Audio API</a:t>
                      </a:r>
                      <a:endParaRPr lang="en-US" sz="8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Web Speech recognition engine, dynamic frequency visualizer, APMC ticker</a:t>
                      </a:r>
                      <a:endParaRPr lang="en-US" sz="8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[Member 5]</a:t>
                      </a:r>
                      <a:endParaRPr lang="en-US" sz="8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CI/CD &amp; Demo Suite</a:t>
                      </a:r>
                      <a:endParaRPr lang="en-US" sz="8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Vercel pipeline, Magic QR pass generation, Big Screen real-time monitor</a:t>
                      </a:r>
                      <a:endParaRPr lang="en-US" sz="88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6492240" y="4937760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2D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🤝 Teamwork Model: 100% peer code reviews on GitHub with rotating milestone leadership across all 5 project phases.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62D4D"/>
          </a:solidFill>
          <a:ln w="12700">
            <a:solidFill>
              <a:srgbClr val="162D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8. Current Status &amp; Way Forward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 with a clear assessment of the project.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686800" y="649224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EEC-2026 | Final Project Presentation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5303520" cy="5029200"/>
          </a:xfrm>
          <a:prstGeom prst="roundRect">
            <a:avLst>
              <a:gd name="adj" fmla="val 2727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3716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D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to include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737360"/>
            <a:ext cx="475488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80" b="1" dirty="0">
                <a:solidFill>
                  <a:srgbClr val="162D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Present Project Status:
</a:t>
            </a:r>
            <a:pPr indent="0" marL="0">
              <a:buNone/>
            </a:pPr>
            <a:r>
              <a:rPr lang="en-US" sz="98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Fully functional, production-deployed web platform running live at `gram-setu-one.vercel.app` with zero critical bugs.
</a:t>
            </a:r>
            <a:pPr indent="0" marL="0">
              <a:buNone/>
            </a:pPr>
            <a:r>
              <a:rPr lang="en-US" sz="980" b="1" dirty="0">
                <a:solidFill>
                  <a:srgbClr val="162D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Remains / Needs Improvement:
</a:t>
            </a:r>
            <a:pPr indent="0" marL="0">
              <a:buNone/>
            </a:pPr>
            <a:r>
              <a:rPr lang="en-US" sz="98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Offline PWA mode with IndexedDB caching for zero-connectivity farm usage.
• Direct integration with Government of Karnataka Bhoomi land records and K-Kisan APIs.
</a:t>
            </a:r>
            <a:pPr indent="0" marL="0">
              <a:buNone/>
            </a:pPr>
            <a:r>
              <a:rPr lang="en-US" sz="980" b="1" dirty="0">
                <a:solidFill>
                  <a:srgbClr val="162D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We Would Do Differently Next Time:
</a:t>
            </a:r>
            <a:pPr indent="0" marL="0">
              <a:buNone/>
            </a:pPr>
            <a:r>
              <a:rPr lang="en-US" sz="98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Conduct rural on-field voice testing earlier in M1 to capture local dialect idioms.
</a:t>
            </a:r>
            <a:pPr indent="0" marL="0">
              <a:buNone/>
            </a:pPr>
            <a:r>
              <a:rPr lang="en-US" sz="980" b="1" dirty="0">
                <a:solidFill>
                  <a:srgbClr val="162D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Potential for Scale &amp; Commercialization:
</a:t>
            </a:r>
            <a:pPr indent="0" marL="0">
              <a:buNone/>
            </a:pPr>
            <a:r>
              <a:rPr lang="en-US" sz="98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Pilot adoption across 5 Gram Panchayats in Mandya &amp; Tumakuru; WhatsApp Bot integration for low-tier phones.</a:t>
            </a:r>
            <a:endParaRPr lang="en-US" sz="980" dirty="0"/>
          </a:p>
        </p:txBody>
      </p:sp>
      <p:sp>
        <p:nvSpPr>
          <p:cNvPr id="9" name="Shape 7"/>
          <p:cNvSpPr/>
          <p:nvPr/>
        </p:nvSpPr>
        <p:spPr>
          <a:xfrm>
            <a:off x="6217920" y="1234440"/>
            <a:ext cx="5394960" cy="5029200"/>
          </a:xfrm>
          <a:prstGeom prst="roundRect">
            <a:avLst>
              <a:gd name="adj" fmla="val 2727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137160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D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VISUAL / EVIDENCE: Future Evolution Roadmap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92240" y="1828800"/>
            <a:ext cx="4846320" cy="1371600"/>
          </a:xfrm>
          <a:prstGeom prst="roundRect">
            <a:avLst>
              <a:gd name="adj" fmla="val 6667"/>
            </a:avLst>
          </a:prstGeom>
          <a:solidFill>
            <a:srgbClr val="DCFCE7"/>
          </a:solidFill>
          <a:ln w="15240">
            <a:solidFill>
              <a:srgbClr val="16A3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0" y="1901952"/>
            <a:ext cx="46634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2D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PHASE 1: CURRENT LIVE RELEASE (M5)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162D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Live React 19 + Vite 8 PWA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162D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Gemini Flash Vision Crop Doctor &amp; Voice Assistant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162D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31 Karnataka Districts APMC Mandi Feeds &amp; 4-Tier SLA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492240" y="3310128"/>
            <a:ext cx="4846320" cy="1371600"/>
          </a:xfrm>
          <a:prstGeom prst="roundRect">
            <a:avLst>
              <a:gd name="adj" fmla="val 6667"/>
            </a:avLst>
          </a:prstGeom>
          <a:solidFill>
            <a:srgbClr val="DBEAFE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0" y="3383280"/>
            <a:ext cx="46634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62D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PHASE 2: EXTENSIONS &amp; OFFLINE (Q4 2026)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62D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WhatsApp Bot via Twilio / Meta Cloud API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62D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Offline PWA with IndexedDB local caching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62D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Government of India Bhashini AI Speech Engine integration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492240" y="4791456"/>
            <a:ext cx="4846320" cy="1371600"/>
          </a:xfrm>
          <a:prstGeom prst="roundRect">
            <a:avLst>
              <a:gd name="adj" fmla="val 6667"/>
            </a:avLst>
          </a:prstGeom>
          <a:solidFill>
            <a:srgbClr val="FEF3C7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0" y="4864608"/>
            <a:ext cx="46634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62D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PHASE 3: GOVT API INTEGRATION (2027)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62D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Bhoomi Land Records &amp; K-Kisan Farmer ID synchronization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62D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IoT Soil Moisture &amp; Weather Telemetry node integration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62D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Pan-India multi-state localization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EEC-2026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GramSetu - EEC-2026 Final Project Presentation</dc:title>
  <dc:subject>PptxGenJS Presentation</dc:subject>
  <dc:creator>GramSetu Team</dc:creator>
  <cp:lastModifiedBy>GramSetu Team</cp:lastModifiedBy>
  <cp:revision>1</cp:revision>
  <dcterms:created xsi:type="dcterms:W3CDTF">2026-09-10T16:07:28Z</dcterms:created>
  <dcterms:modified xsi:type="dcterms:W3CDTF">2026-09-10T16:07:28Z</dcterms:modified>
</cp:coreProperties>
</file>